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2" r:id="rId1"/>
  </p:sldMasterIdLst>
  <p:notesMasterIdLst>
    <p:notesMasterId r:id="rId12"/>
  </p:notesMasterIdLst>
  <p:sldIdLst>
    <p:sldId id="257" r:id="rId2"/>
    <p:sldId id="258" r:id="rId3"/>
    <p:sldId id="261" r:id="rId4"/>
    <p:sldId id="259" r:id="rId5"/>
    <p:sldId id="264" r:id="rId6"/>
    <p:sldId id="265" r:id="rId7"/>
    <p:sldId id="266" r:id="rId8"/>
    <p:sldId id="268" r:id="rId9"/>
    <p:sldId id="271" r:id="rId10"/>
    <p:sldId id="274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FFFF66"/>
    <a:srgbClr val="006699"/>
    <a:srgbClr val="1E1E14"/>
    <a:srgbClr val="1B1A16"/>
    <a:srgbClr val="36332B"/>
    <a:srgbClr val="8D8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0033FC-D2EB-4EA7-AD2C-CA31E4C63F36}" type="datetimeFigureOut">
              <a:rPr lang="en-GB" smtClean="0"/>
              <a:t>07/01/2024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B5B2F3-093B-4425-B1CB-BBF298D5F7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471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5B2F3-093B-4425-B1CB-BBF298D5F78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2145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05318-2AA7-49E4-BD81-60BBE8651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1AAD30-3DD3-4335-A0AD-480B10EA03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18D8A-7E03-4D74-BF3E-A52F05A53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A9DB4-C25C-45F4-A7C8-39618D73F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D8A66-748B-44EB-B1FF-2CA017300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kern="0" smtClean="0">
                <a:solidFill>
                  <a:srgbClr val="595959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lang="en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011956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8F8D9-484C-4A67-B75F-052DB2E47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B478D-0097-484E-90A6-B9F57F868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59FE1-DC28-457E-880D-DB9AF6F38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1/7/2024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CC6C9-2B53-4573-B518-61A5C8C61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F58D3-0676-416E-89AA-606DBEC2E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kern="0" smtClean="0">
                <a:solidFill>
                  <a:srgbClr val="595959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lang="en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989040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49E2A-DFA8-40DF-B350-0DAAA6A98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349445-137E-45F8-9875-A511C6D09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25C03-746D-4538-8BAD-831F0E26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D480C-CF3D-4797-B7D2-4AC6A1952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9F7DA-D23D-412C-AD73-B1372A07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kern="0" smtClean="0">
                <a:solidFill>
                  <a:srgbClr val="595959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lang="en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152001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413F9-D4FA-4C5F-9228-03BEEE3B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59A37-5FF3-42E3-A202-37A2A1E45A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123255-9206-40B2-8D62-438F0399F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7D6774-003F-45D8-A709-52D04B3C6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1/7/2024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659CE7-767E-4F0D-8C86-93786D823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60761B-9033-4A65-8E32-57569F740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kern="0" smtClean="0">
                <a:solidFill>
                  <a:srgbClr val="595959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lang="en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5067055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DE9D8-2FEC-476B-B44D-ABC6B285B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4409BB-53C0-45C2-BFBA-759411724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D1F512-0F0A-4903-915D-28708F7AB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76B379-3094-4EDF-BC5D-B28B1E7D32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18A575-636B-455F-B486-D4D71A3593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2CE09D-4D10-4B38-8DA2-640BF5B9B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1/7/2024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5B9C28-92A3-48F8-BB85-1E1D59A8E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3A5F7C-A322-4DF7-9ECD-1647621C4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kern="0" smtClean="0">
                <a:solidFill>
                  <a:srgbClr val="595959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lang="en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043156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93F89-EAD2-4638-89A3-513AFC8D7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16A77B-AB24-46FD-A256-ED7A14E23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1/7/2024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166E4F-B392-424A-BBF9-4CF916611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FF57C5-2D15-4A88-AADB-263C42E90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kern="0" smtClean="0">
                <a:solidFill>
                  <a:srgbClr val="595959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lang="en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1493665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2BD281-A622-47CA-9AB2-DEB7BC305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1/7/2024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082D2-C4B8-40AC-96DD-F19FD321A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5F1DD-6301-46D9-AA2E-FFEC4A412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solidFill>
                  <a:srgbClr val="595959"/>
                </a:solidFill>
              </a:rPr>
              <a:pPr/>
              <a:t>‹#›</a:t>
            </a:fld>
            <a:endParaRPr lang="en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221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786E8-0806-473B-887A-15DAB183A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B8505-FA77-4429-8ABC-11F3D54A8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3C3B2C-A672-45BE-B56D-CD53CB61C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C8FA29-906B-41CC-B419-EDF14DB62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1CE40-74D8-4340-91EF-FF3D3C597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0890AA-E5C3-4139-8248-63F3A455C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kern="0" smtClean="0">
                <a:solidFill>
                  <a:srgbClr val="595959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lang="en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135079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9E680-382E-40CE-A8F3-7617827B9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7BCFF5-116C-4513-B0DA-B98CC3A585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F8BFA-6868-4A31-A454-3357E64BA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8C283A-4B24-43A6-B7F6-6983A5B1C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C9B85-8EE1-4B97-B315-EED768949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E96DB-B9B2-4B9D-A90B-A45594ED3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kern="0" smtClean="0">
                <a:solidFill>
                  <a:srgbClr val="595959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lang="en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718441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257D3-17AB-42E7-90C6-E8B22DA91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40E0FB-C2DE-4427-A79D-C62E0B34E4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6D076-9D90-415D-AAA6-8D48FD90E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9405A-2142-4546-A2F4-14A3D7A26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9A71B-687E-4411-A0C5-2FDCCFFE1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kern="0" smtClean="0">
                <a:solidFill>
                  <a:srgbClr val="595959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lang="en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6602486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25B3AA-6870-4BB2-8D52-32121B56D3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EC962-28C5-4777-9630-BF9B94C63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4107C-49A4-40F9-8146-67D315EB7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829F5-1C91-414B-8905-537F22058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23584-8844-4AF1-931A-0345C0A8E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kern="0" smtClean="0">
                <a:solidFill>
                  <a:srgbClr val="595959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lang="en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166839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>
            <a:spLocks noGrp="1"/>
          </p:cNvSpPr>
          <p:nvPr>
            <p:ph type="ctrTitle"/>
          </p:nvPr>
        </p:nvSpPr>
        <p:spPr>
          <a:xfrm flipH="1">
            <a:off x="2359650" y="1867533"/>
            <a:ext cx="4424700" cy="125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1"/>
          </p:nvPr>
        </p:nvSpPr>
        <p:spPr>
          <a:xfrm>
            <a:off x="2378700" y="3373340"/>
            <a:ext cx="4386600" cy="125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8863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595959"/>
                </a:solidFill>
              </a:rPr>
              <a:pPr/>
              <a:t>‹#›</a:t>
            </a:fld>
            <a:endParaRPr>
              <a:solidFill>
                <a:srgbClr val="595959"/>
              </a:solidFill>
            </a:endParaRPr>
          </a:p>
        </p:txBody>
      </p:sp>
      <p:sp>
        <p:nvSpPr>
          <p:cNvPr id="51" name="Google Shape;51;p8"/>
          <p:cNvSpPr txBox="1">
            <a:spLocks noGrp="1"/>
          </p:cNvSpPr>
          <p:nvPr>
            <p:ph type="subTitle" idx="1"/>
          </p:nvPr>
        </p:nvSpPr>
        <p:spPr>
          <a:xfrm>
            <a:off x="5427750" y="2426383"/>
            <a:ext cx="2857500" cy="6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ctrTitle"/>
          </p:nvPr>
        </p:nvSpPr>
        <p:spPr>
          <a:xfrm flipH="1">
            <a:off x="5427750" y="1308783"/>
            <a:ext cx="2857500" cy="11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796680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595959"/>
                </a:solidFill>
              </a:rPr>
              <a:pPr/>
              <a:t>‹#›</a:t>
            </a:fld>
            <a:endParaRPr>
              <a:solidFill>
                <a:srgbClr val="595959"/>
              </a:solidFill>
            </a:endParaRPr>
          </a:p>
        </p:txBody>
      </p:sp>
      <p:sp>
        <p:nvSpPr>
          <p:cNvPr id="67" name="Google Shape;67;p10"/>
          <p:cNvSpPr txBox="1">
            <a:spLocks noGrp="1"/>
          </p:cNvSpPr>
          <p:nvPr>
            <p:ph type="ctrTitle"/>
          </p:nvPr>
        </p:nvSpPr>
        <p:spPr>
          <a:xfrm flipH="1">
            <a:off x="1187500" y="593367"/>
            <a:ext cx="6784500" cy="22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11038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>
            <a:spLocks noGrp="1"/>
          </p:cNvSpPr>
          <p:nvPr>
            <p:ph type="ctrTitle"/>
          </p:nvPr>
        </p:nvSpPr>
        <p:spPr>
          <a:xfrm>
            <a:off x="5225420" y="2470067"/>
            <a:ext cx="2965200" cy="8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type="subTitle" idx="1"/>
          </p:nvPr>
        </p:nvSpPr>
        <p:spPr>
          <a:xfrm>
            <a:off x="5242550" y="3531767"/>
            <a:ext cx="2930700" cy="16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30357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ctrTitle"/>
          </p:nvPr>
        </p:nvSpPr>
        <p:spPr>
          <a:xfrm>
            <a:off x="1690457" y="2736541"/>
            <a:ext cx="26292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1"/>
          </p:nvPr>
        </p:nvSpPr>
        <p:spPr>
          <a:xfrm>
            <a:off x="2051807" y="3384876"/>
            <a:ext cx="19065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ctrTitle" idx="2"/>
          </p:nvPr>
        </p:nvSpPr>
        <p:spPr>
          <a:xfrm>
            <a:off x="1690457" y="4799375"/>
            <a:ext cx="26292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3"/>
          </p:nvPr>
        </p:nvSpPr>
        <p:spPr>
          <a:xfrm>
            <a:off x="2051807" y="5398133"/>
            <a:ext cx="19065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ctrTitle" idx="4"/>
          </p:nvPr>
        </p:nvSpPr>
        <p:spPr>
          <a:xfrm>
            <a:off x="4824357" y="2736541"/>
            <a:ext cx="26292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5"/>
          </p:nvPr>
        </p:nvSpPr>
        <p:spPr>
          <a:xfrm>
            <a:off x="5185707" y="3384876"/>
            <a:ext cx="19065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ctrTitle" idx="6"/>
          </p:nvPr>
        </p:nvSpPr>
        <p:spPr>
          <a:xfrm>
            <a:off x="4824357" y="4799375"/>
            <a:ext cx="26292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7"/>
          </p:nvPr>
        </p:nvSpPr>
        <p:spPr>
          <a:xfrm>
            <a:off x="5185707" y="5398133"/>
            <a:ext cx="19065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ctrTitle" idx="8"/>
          </p:nvPr>
        </p:nvSpPr>
        <p:spPr>
          <a:xfrm>
            <a:off x="1122278" y="535267"/>
            <a:ext cx="68994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9" hasCustomPrompt="1"/>
          </p:nvPr>
        </p:nvSpPr>
        <p:spPr>
          <a:xfrm>
            <a:off x="2128157" y="2074175"/>
            <a:ext cx="17538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13" hasCustomPrompt="1"/>
          </p:nvPr>
        </p:nvSpPr>
        <p:spPr>
          <a:xfrm>
            <a:off x="2128157" y="4098696"/>
            <a:ext cx="17538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14" hasCustomPrompt="1"/>
          </p:nvPr>
        </p:nvSpPr>
        <p:spPr>
          <a:xfrm>
            <a:off x="5262057" y="2074175"/>
            <a:ext cx="17538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15" hasCustomPrompt="1"/>
          </p:nvPr>
        </p:nvSpPr>
        <p:spPr>
          <a:xfrm>
            <a:off x="5262057" y="4098696"/>
            <a:ext cx="17538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6363187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595959"/>
                </a:solidFill>
              </a:rPr>
              <a:pPr/>
              <a:t>‹#›</a:t>
            </a:fld>
            <a:endParaRPr>
              <a:solidFill>
                <a:srgbClr val="595959"/>
              </a:solidFill>
            </a:endParaRPr>
          </a:p>
        </p:txBody>
      </p:sp>
      <p:sp>
        <p:nvSpPr>
          <p:cNvPr id="72" name="Google Shape;72;p11"/>
          <p:cNvSpPr txBox="1">
            <a:spLocks noGrp="1"/>
          </p:cNvSpPr>
          <p:nvPr>
            <p:ph type="title" hasCustomPrompt="1"/>
          </p:nvPr>
        </p:nvSpPr>
        <p:spPr>
          <a:xfrm>
            <a:off x="539999" y="1866753"/>
            <a:ext cx="8064000" cy="237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0"/>
              <a:buNone/>
              <a:defRPr sz="1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>
            <a:spLocks noGrp="1"/>
          </p:cNvSpPr>
          <p:nvPr>
            <p:ph type="subTitle" idx="1"/>
          </p:nvPr>
        </p:nvSpPr>
        <p:spPr>
          <a:xfrm>
            <a:off x="537375" y="4313653"/>
            <a:ext cx="8066700" cy="52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0368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05BF7F-40E6-4F56-832D-014836618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BC32A-9D94-4DCA-80ED-BFBEF32A3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CB0CE-2B32-484C-BC96-B0E915F0D6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61553-8B14-427D-B919-EEC42CD5C3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8B62D-DF86-4828-8861-6210482849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kern="0" smtClean="0">
                <a:solidFill>
                  <a:srgbClr val="595959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lang="en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3349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3" r:id="rId1"/>
    <p:sldLayoutId id="2147483934" r:id="rId2"/>
    <p:sldLayoutId id="2147483935" r:id="rId3"/>
    <p:sldLayoutId id="2147483936" r:id="rId4"/>
    <p:sldLayoutId id="2147483937" r:id="rId5"/>
    <p:sldLayoutId id="2147483938" r:id="rId6"/>
    <p:sldLayoutId id="2147483939" r:id="rId7"/>
    <p:sldLayoutId id="2147483940" r:id="rId8"/>
    <p:sldLayoutId id="2147483941" r:id="rId9"/>
    <p:sldLayoutId id="2147483942" r:id="rId10"/>
    <p:sldLayoutId id="2147483943" r:id="rId11"/>
    <p:sldLayoutId id="2147483944" r:id="rId12"/>
    <p:sldLayoutId id="2147483945" r:id="rId13"/>
    <p:sldLayoutId id="2147483946" r:id="rId14"/>
    <p:sldLayoutId id="2147483947" r:id="rId15"/>
    <p:sldLayoutId id="2147483948" r:id="rId16"/>
    <p:sldLayoutId id="2147483950" r:id="rId17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C00E10-6A63-41F4-B02B-3129DE4878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7162800"/>
          </a:xfrm>
          <a:prstGeom prst="rect">
            <a:avLst/>
          </a:prstGeom>
        </p:spPr>
      </p:pic>
      <p:sp>
        <p:nvSpPr>
          <p:cNvPr id="765" name="Google Shape;765;p9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i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ECOSYNTH</a:t>
            </a:r>
            <a:endParaRPr b="1" i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6" name="Google Shape;766;p94"/>
          <p:cNvSpPr txBox="1">
            <a:spLocks noGrp="1"/>
          </p:cNvSpPr>
          <p:nvPr>
            <p:ph type="subTitle" idx="1"/>
          </p:nvPr>
        </p:nvSpPr>
        <p:spPr>
          <a:xfrm>
            <a:off x="2057400" y="3733800"/>
            <a:ext cx="5410200" cy="557200"/>
          </a:xfrm>
          <a:prstGeom prst="rect">
            <a:avLst/>
          </a:prstGeom>
          <a:solidFill>
            <a:srgbClr val="36332B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dirty="0">
                <a:solidFill>
                  <a:schemeClr val="bg1"/>
                </a:solidFill>
              </a:rPr>
              <a:t>Crafting Tomorrow's Molecules with Green Intelligence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ABD341-A1DA-48D4-86EE-F971FF45DA60}"/>
              </a:ext>
            </a:extLst>
          </p:cNvPr>
          <p:cNvSpPr txBox="1"/>
          <p:nvPr/>
        </p:nvSpPr>
        <p:spPr>
          <a:xfrm>
            <a:off x="304800" y="5909777"/>
            <a:ext cx="1905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By: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V.Vimochini</a:t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en-US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S.Mahima</a:t>
            </a:r>
            <a:b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</a:br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P.S.B.B kk </a:t>
            </a:r>
            <a:r>
              <a:rPr lang="en-US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nagar</a:t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8333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6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6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5" grpId="0"/>
      <p:bldP spid="766" grpId="0" uiExpand="1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2A7D234B-41E9-4C54-A170-DB4C5A4D364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28600"/>
            <a:ext cx="9162143" cy="6019801"/>
          </a:xfrm>
          <a:prstGeom prst="rect">
            <a:avLst/>
          </a:prstGeom>
        </p:spPr>
      </p:pic>
      <p:sp>
        <p:nvSpPr>
          <p:cNvPr id="17" name="Title 16"/>
          <p:cNvSpPr>
            <a:spLocks noGrp="1"/>
          </p:cNvSpPr>
          <p:nvPr>
            <p:ph type="ctrTitle"/>
          </p:nvPr>
        </p:nvSpPr>
        <p:spPr>
          <a:xfrm flipH="1">
            <a:off x="152400" y="43800"/>
            <a:ext cx="8915400" cy="1251600"/>
          </a:xfrm>
        </p:spPr>
        <p:txBody>
          <a:bodyPr/>
          <a:lstStyle/>
          <a:p>
            <a:r>
              <a:rPr lang="en-US" sz="3200" b="1" i="1" u="sng" dirty="0">
                <a:solidFill>
                  <a:srgbClr val="1E1E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Organic Synthesis</a:t>
            </a:r>
            <a:br>
              <a:rPr lang="en-US" sz="3200" b="1" i="1" u="sng" dirty="0">
                <a:solidFill>
                  <a:srgbClr val="1E1E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i="1" u="sng" dirty="0">
                <a:solidFill>
                  <a:srgbClr val="1E1E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Environmental Challenges in it</a:t>
            </a:r>
            <a:endParaRPr lang="en-GB" sz="3200" b="1" i="1" u="sng" dirty="0">
              <a:solidFill>
                <a:srgbClr val="1E1E14"/>
              </a:soli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60EE60-9C3B-450D-BE56-395F391E1041}"/>
              </a:ext>
            </a:extLst>
          </p:cNvPr>
          <p:cNvSpPr txBox="1"/>
          <p:nvPr/>
        </p:nvSpPr>
        <p:spPr>
          <a:xfrm>
            <a:off x="170543" y="1676400"/>
            <a:ext cx="7239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Organic synthesis is a branch of chemistry focused on constructing organic compounds, which are molecules primarily composed of carbon and hydrogen atoms.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involves combining simpler organic molecules to create more complex ones through chemical reactions.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organic synthesis relies on hazardous chemical reagents, posing risks to human health and the environment due to toxicity and flammability.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>
                <a:solidFill>
                  <a:srgbClr val="1E1E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energy consumption and substantial waste by-products contribute to environmental pollution and resource depletion.</a:t>
            </a:r>
          </a:p>
          <a:p>
            <a:endParaRPr lang="en-US" b="1" i="1" dirty="0">
              <a:solidFill>
                <a:srgbClr val="1E1E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solidFill>
                  <a:srgbClr val="1E1E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Urgent adoption of sustainable practices is crucial to address these environmental challenges and enhance efficiency in organic synthesis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443433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835820-4106-4E46-902E-CFAA44CF95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1000" y="2895600"/>
            <a:ext cx="8115300" cy="3139321"/>
          </a:xfrm>
          <a:prstGeom prst="rect">
            <a:avLst/>
          </a:prstGeom>
          <a:solidFill>
            <a:schemeClr val="tx1">
              <a:alpha val="41961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and sometimes low-quality data</a:t>
            </a:r>
            <a:br>
              <a:rPr lang="en-US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hindering predictions for novel chemical spaces.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interpretability in AI models and understanding of underlying mechanisms restricting broad application.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Overemphasis on known reactions leads to biased predictions, hindering innovation.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Difficulty handling multi-step reactions and a lack of explicit integration of green chemistry principles pose additional limitations. </a:t>
            </a:r>
            <a:endParaRPr lang="en-GB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76200" y="426184"/>
            <a:ext cx="9372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i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Existing AI-Assisted Chemical Predictions</a:t>
            </a:r>
            <a:endParaRPr lang="en-GB" sz="3200" b="1" i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26446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38D06E-9A71-48B1-BC7A-74A016B26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Flowchart: Alternate Process 5"/>
          <p:cNvSpPr/>
          <p:nvPr/>
        </p:nvSpPr>
        <p:spPr>
          <a:xfrm>
            <a:off x="941231" y="1295400"/>
            <a:ext cx="7620000" cy="4903470"/>
          </a:xfrm>
          <a:prstGeom prst="flowChartAlternateProcess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0" tIns="0" rIns="1005840" bIns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AI system addresses these issues by recommending eco-friendly routes, minimizing resource consumption, and reducing environmental impact.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incorporating green chemistry principles, it optimizes synthetic routes, enhancing efficiency and minimizing human errors.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pharmaceutical realm, the system expedites sustainable drug discovery by guiding the total synthesis of complex molecules, facilitating efficient and environmentally friendly production of essential medicines.</a:t>
            </a:r>
          </a:p>
          <a:p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AI system contributes to a more sustainable and economically viable approach to organic synthesis</a:t>
            </a:r>
            <a:endParaRPr lang="en-GB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362200" y="685800"/>
            <a:ext cx="4572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/>
            <a:r>
              <a:rPr lang="en-US" sz="3200" u="sng" dirty="0">
                <a:ln w="3175">
                  <a:noFill/>
                </a:ln>
                <a:solidFill>
                  <a:srgbClr val="FFFFFF"/>
                </a:solidFill>
                <a:effectLst>
                  <a:glow rad="139700">
                    <a:srgbClr val="0097A7">
                      <a:satMod val="175000"/>
                      <a:alpha val="40000"/>
                    </a:srgbClr>
                  </a:glow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quada One"/>
              </a:rPr>
              <a:t>Our AI System</a:t>
            </a:r>
            <a:endParaRPr lang="en-GB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776753"/>
            <a:ext cx="244475" cy="341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8" name="Google Shape;7849;p174"/>
          <p:cNvGrpSpPr/>
          <p:nvPr/>
        </p:nvGrpSpPr>
        <p:grpSpPr>
          <a:xfrm>
            <a:off x="6019800" y="776753"/>
            <a:ext cx="250869" cy="343862"/>
            <a:chOff x="-38275925" y="1946600"/>
            <a:chExt cx="231600" cy="317450"/>
          </a:xfrm>
        </p:grpSpPr>
        <p:sp>
          <p:nvSpPr>
            <p:cNvPr id="29" name="Google Shape;7850;p174"/>
            <p:cNvSpPr/>
            <p:nvPr/>
          </p:nvSpPr>
          <p:spPr>
            <a:xfrm>
              <a:off x="-38275925" y="1946600"/>
              <a:ext cx="231600" cy="317450"/>
            </a:xfrm>
            <a:custGeom>
              <a:avLst/>
              <a:gdLst/>
              <a:ahLst/>
              <a:cxnLst/>
              <a:rect l="l" t="t" r="r" b="b"/>
              <a:pathLst>
                <a:path w="9264" h="12698" extrusionOk="0">
                  <a:moveTo>
                    <a:pt x="4546" y="892"/>
                  </a:moveTo>
                  <a:cubicBezTo>
                    <a:pt x="4811" y="892"/>
                    <a:pt x="5082" y="920"/>
                    <a:pt x="5357" y="977"/>
                  </a:cubicBezTo>
                  <a:cubicBezTo>
                    <a:pt x="6964" y="1292"/>
                    <a:pt x="8287" y="2742"/>
                    <a:pt x="8287" y="4600"/>
                  </a:cubicBezTo>
                  <a:cubicBezTo>
                    <a:pt x="8287" y="5987"/>
                    <a:pt x="7531" y="7215"/>
                    <a:pt x="6396" y="7845"/>
                  </a:cubicBezTo>
                  <a:cubicBezTo>
                    <a:pt x="5987" y="8034"/>
                    <a:pt x="5798" y="8475"/>
                    <a:pt x="5798" y="8885"/>
                  </a:cubicBezTo>
                  <a:lnTo>
                    <a:pt x="5798" y="9169"/>
                  </a:lnTo>
                  <a:lnTo>
                    <a:pt x="3309" y="9169"/>
                  </a:lnTo>
                  <a:lnTo>
                    <a:pt x="3309" y="8854"/>
                  </a:lnTo>
                  <a:cubicBezTo>
                    <a:pt x="3309" y="8412"/>
                    <a:pt x="3088" y="8034"/>
                    <a:pt x="2679" y="7782"/>
                  </a:cubicBezTo>
                  <a:cubicBezTo>
                    <a:pt x="1545" y="7121"/>
                    <a:pt x="820" y="5955"/>
                    <a:pt x="820" y="4600"/>
                  </a:cubicBezTo>
                  <a:cubicBezTo>
                    <a:pt x="820" y="2536"/>
                    <a:pt x="2499" y="892"/>
                    <a:pt x="4546" y="892"/>
                  </a:cubicBezTo>
                  <a:close/>
                  <a:moveTo>
                    <a:pt x="5798" y="9956"/>
                  </a:moveTo>
                  <a:lnTo>
                    <a:pt x="5798" y="10681"/>
                  </a:lnTo>
                  <a:cubicBezTo>
                    <a:pt x="5798" y="10901"/>
                    <a:pt x="5609" y="11059"/>
                    <a:pt x="5357" y="11090"/>
                  </a:cubicBezTo>
                  <a:lnTo>
                    <a:pt x="3719" y="11090"/>
                  </a:lnTo>
                  <a:cubicBezTo>
                    <a:pt x="3467" y="11090"/>
                    <a:pt x="3309" y="10901"/>
                    <a:pt x="3277" y="10681"/>
                  </a:cubicBezTo>
                  <a:lnTo>
                    <a:pt x="3277" y="9956"/>
                  </a:lnTo>
                  <a:close/>
                  <a:moveTo>
                    <a:pt x="4443" y="1"/>
                  </a:moveTo>
                  <a:cubicBezTo>
                    <a:pt x="2049" y="32"/>
                    <a:pt x="1" y="2080"/>
                    <a:pt x="1" y="4600"/>
                  </a:cubicBezTo>
                  <a:cubicBezTo>
                    <a:pt x="1" y="6270"/>
                    <a:pt x="883" y="7719"/>
                    <a:pt x="2238" y="8539"/>
                  </a:cubicBezTo>
                  <a:cubicBezTo>
                    <a:pt x="2332" y="8570"/>
                    <a:pt x="2395" y="8696"/>
                    <a:pt x="2458" y="8759"/>
                  </a:cubicBezTo>
                  <a:lnTo>
                    <a:pt x="2458" y="10681"/>
                  </a:lnTo>
                  <a:cubicBezTo>
                    <a:pt x="2458" y="11216"/>
                    <a:pt x="2805" y="11689"/>
                    <a:pt x="3309" y="11847"/>
                  </a:cubicBezTo>
                  <a:cubicBezTo>
                    <a:pt x="3467" y="12351"/>
                    <a:pt x="3939" y="12697"/>
                    <a:pt x="4506" y="12697"/>
                  </a:cubicBezTo>
                  <a:cubicBezTo>
                    <a:pt x="5042" y="12697"/>
                    <a:pt x="5514" y="12351"/>
                    <a:pt x="5672" y="11847"/>
                  </a:cubicBezTo>
                  <a:cubicBezTo>
                    <a:pt x="6176" y="11689"/>
                    <a:pt x="6554" y="11216"/>
                    <a:pt x="6554" y="10681"/>
                  </a:cubicBezTo>
                  <a:lnTo>
                    <a:pt x="6554" y="8854"/>
                  </a:lnTo>
                  <a:cubicBezTo>
                    <a:pt x="6554" y="8728"/>
                    <a:pt x="6617" y="8570"/>
                    <a:pt x="6712" y="8507"/>
                  </a:cubicBezTo>
                  <a:cubicBezTo>
                    <a:pt x="8318" y="7593"/>
                    <a:pt x="9263" y="5735"/>
                    <a:pt x="8948" y="3750"/>
                  </a:cubicBezTo>
                  <a:cubicBezTo>
                    <a:pt x="8602" y="1702"/>
                    <a:pt x="6806" y="1"/>
                    <a:pt x="444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7851;p174"/>
            <p:cNvSpPr/>
            <p:nvPr/>
          </p:nvSpPr>
          <p:spPr>
            <a:xfrm>
              <a:off x="-38235750" y="1989125"/>
              <a:ext cx="84300" cy="83525"/>
            </a:xfrm>
            <a:custGeom>
              <a:avLst/>
              <a:gdLst/>
              <a:ahLst/>
              <a:cxnLst/>
              <a:rect l="l" t="t" r="r" b="b"/>
              <a:pathLst>
                <a:path w="3372" h="3341" extrusionOk="0">
                  <a:moveTo>
                    <a:pt x="2931" y="1"/>
                  </a:moveTo>
                  <a:cubicBezTo>
                    <a:pt x="1355" y="1"/>
                    <a:pt x="64" y="1293"/>
                    <a:pt x="1" y="2899"/>
                  </a:cubicBezTo>
                  <a:cubicBezTo>
                    <a:pt x="1" y="3120"/>
                    <a:pt x="158" y="3340"/>
                    <a:pt x="410" y="3340"/>
                  </a:cubicBezTo>
                  <a:cubicBezTo>
                    <a:pt x="631" y="3340"/>
                    <a:pt x="851" y="3120"/>
                    <a:pt x="851" y="2899"/>
                  </a:cubicBezTo>
                  <a:cubicBezTo>
                    <a:pt x="883" y="1765"/>
                    <a:pt x="1796" y="820"/>
                    <a:pt x="2931" y="820"/>
                  </a:cubicBezTo>
                  <a:cubicBezTo>
                    <a:pt x="3151" y="820"/>
                    <a:pt x="3372" y="631"/>
                    <a:pt x="3372" y="379"/>
                  </a:cubicBezTo>
                  <a:cubicBezTo>
                    <a:pt x="3372" y="190"/>
                    <a:pt x="3151" y="1"/>
                    <a:pt x="293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4036100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0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B799B7A-3E7A-4B24-8504-846DA26F7E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69038" y="1238845"/>
            <a:ext cx="6900930" cy="5369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Data Extraction and Standardization: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Extract key information on various organic synthesis aspects.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Standardize data for a unified, easily accessible database.</a:t>
            </a:r>
          </a:p>
          <a:p>
            <a:pPr marL="914400" lvl="1" indent="-457200">
              <a:buFont typeface="+mj-lt"/>
              <a:buAutoNum type="arabicPeriod"/>
            </a:pPr>
            <a:endParaRPr lang="en-US" i="1" dirty="0">
              <a:solidFill>
                <a:schemeClr val="bg1"/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 marL="457200" marR="0" lvl="0" indent="-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i="1" dirty="0">
                <a:solidFill>
                  <a:schemeClr val="bg1"/>
                </a:solidFill>
                <a:effectLst>
                  <a:glow rad="101600">
                    <a:schemeClr val="accent5">
                      <a:satMod val="175000"/>
                      <a:alpha val="40000"/>
                    </a:schemeClr>
                  </a:glow>
                </a:effectLst>
                <a:latin typeface="Georgia" panose="02040502050405020303" pitchFamily="18" charset="0"/>
                <a:ea typeface="Times New Roman"/>
                <a:cs typeface="Times New Roman" panose="02020603050405020304" pitchFamily="18" charset="0"/>
              </a:rPr>
              <a:t>Collaboration and Integration:</a:t>
            </a:r>
          </a:p>
          <a:p>
            <a:pPr marL="914400" marR="0" lvl="1" indent="-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+mj-lt"/>
              <a:buAutoNum type="arabicPeriod"/>
              <a:tabLst>
                <a:tab pos="914400" algn="l"/>
              </a:tabLst>
            </a:pPr>
            <a:r>
              <a:rPr lang="en-US" i="1" dirty="0">
                <a:solidFill>
                  <a:schemeClr val="bg1"/>
                </a:solidFill>
                <a:latin typeface="Georgia" panose="02040502050405020303" pitchFamily="18" charset="0"/>
                <a:ea typeface="Times New Roman"/>
                <a:cs typeface="Times New Roman" panose="02020603050405020304" pitchFamily="18" charset="0"/>
              </a:rPr>
              <a:t>Collaborate with educational institutions, research organizations, and industry experts for ongoing updates.</a:t>
            </a:r>
          </a:p>
          <a:p>
            <a:pPr marL="914400" marR="0" lvl="1" indent="-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+mj-lt"/>
              <a:buAutoNum type="arabicPeriod"/>
              <a:tabLst>
                <a:tab pos="914400" algn="l"/>
              </a:tabLst>
            </a:pPr>
            <a:r>
              <a:rPr lang="en-US" i="1" dirty="0">
                <a:solidFill>
                  <a:schemeClr val="bg1"/>
                </a:solidFill>
                <a:latin typeface="Georgia" panose="02040502050405020303" pitchFamily="18" charset="0"/>
                <a:ea typeface="Times New Roman"/>
                <a:cs typeface="Times New Roman" panose="02020603050405020304" pitchFamily="18" charset="0"/>
              </a:rPr>
              <a:t>Integrate with existing chemical databases and tools to ensure a seamless flow of information.</a:t>
            </a:r>
          </a:p>
          <a:p>
            <a:pPr marL="914400" marR="0" lvl="1" indent="-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+mj-lt"/>
              <a:buAutoNum type="arabicPeriod"/>
              <a:tabLst>
                <a:tab pos="914400" algn="l"/>
              </a:tabLst>
            </a:pPr>
            <a:endParaRPr lang="en-US" i="1" dirty="0">
              <a:solidFill>
                <a:schemeClr val="bg1"/>
              </a:solidFill>
              <a:latin typeface="Georgia" panose="02040502050405020303" pitchFamily="18" charset="0"/>
              <a:ea typeface="Times New Roman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Natural Language Processing (NLP):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Implement NLP for effective comprehension of textual information.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28983" y="228600"/>
            <a:ext cx="7195817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i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Blueprint for an</a:t>
            </a:r>
          </a:p>
          <a:p>
            <a:pPr algn="ctr"/>
            <a:r>
              <a:rPr lang="en-US" sz="3200" b="1" i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Advanced Organic Synthesis AI System</a:t>
            </a:r>
            <a:endParaRPr lang="en-GB" sz="3200" b="1" i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6478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7FB3EB-BD02-45E0-895F-CC9C979EC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7048" y="762000"/>
            <a:ext cx="8610600" cy="582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b="1" i="1" dirty="0">
                <a:solidFill>
                  <a:schemeClr val="bg1"/>
                </a:solidFill>
                <a:effectLst>
                  <a:glow rad="101600">
                    <a:schemeClr val="accent5">
                      <a:satMod val="175000"/>
                      <a:alpha val="40000"/>
                    </a:schemeClr>
                  </a:glow>
                </a:effectLst>
                <a:latin typeface="Georgia" pitchFamily="18" charset="0"/>
                <a:ea typeface="Times New Roman"/>
                <a:cs typeface="Mangal"/>
              </a:rPr>
              <a:t>4. AI Model Development:</a:t>
            </a:r>
            <a:endParaRPr lang="en-US" sz="1400" i="1" dirty="0">
              <a:solidFill>
                <a:schemeClr val="bg1"/>
              </a:solidFill>
              <a:effectLst>
                <a:glow rad="101600">
                  <a:schemeClr val="accent5">
                    <a:satMod val="175000"/>
                    <a:alpha val="40000"/>
                  </a:schemeClr>
                </a:glow>
              </a:effectLst>
              <a:latin typeface="Georgia" pitchFamily="18" charset="0"/>
              <a:ea typeface="Times New Roman"/>
              <a:cs typeface="Mangal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914400" algn="l"/>
              </a:tabLst>
            </a:pPr>
            <a:r>
              <a:rPr lang="en-US" b="1" i="1" dirty="0">
                <a:solidFill>
                  <a:schemeClr val="bg1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  <a:latin typeface="Georgia" pitchFamily="18" charset="0"/>
                <a:ea typeface="Times New Roman"/>
                <a:cs typeface="Mangal"/>
              </a:rPr>
              <a:t>Retrosynthetic Analysis Module:</a:t>
            </a:r>
            <a:endParaRPr lang="en-US" sz="1400" i="1" dirty="0">
              <a:solidFill>
                <a:schemeClr val="bg1"/>
              </a:solidFill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  <a:latin typeface="Georgia" pitchFamily="18" charset="0"/>
              <a:ea typeface="Times New Roman"/>
              <a:cs typeface="Mangal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1371600" algn="l"/>
              </a:tabLst>
            </a:pPr>
            <a:r>
              <a:rPr lang="en-US" i="1" dirty="0">
                <a:solidFill>
                  <a:schemeClr val="bg1"/>
                </a:solidFill>
                <a:effectLst/>
                <a:latin typeface="Georgia" pitchFamily="18" charset="0"/>
                <a:ea typeface="Times New Roman"/>
                <a:cs typeface="Mangal"/>
              </a:rPr>
              <a:t>Algorithms for breaking down complex molecules into simpler precursors.</a:t>
            </a:r>
            <a:endParaRPr lang="en-US" sz="1400" i="1" dirty="0">
              <a:solidFill>
                <a:schemeClr val="bg1"/>
              </a:solidFill>
              <a:effectLst/>
              <a:latin typeface="Georgia" pitchFamily="18" charset="0"/>
              <a:ea typeface="Times New Roman"/>
              <a:cs typeface="Mangal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1371600" algn="l"/>
              </a:tabLst>
            </a:pPr>
            <a:r>
              <a:rPr lang="en-US" i="1" dirty="0">
                <a:solidFill>
                  <a:schemeClr val="bg1"/>
                </a:solidFill>
                <a:effectLst/>
                <a:latin typeface="Georgia" pitchFamily="18" charset="0"/>
                <a:ea typeface="Times New Roman"/>
                <a:cs typeface="Mangal"/>
              </a:rPr>
              <a:t>User-friendly interface for inputting target molecules.</a:t>
            </a:r>
            <a:endParaRPr lang="en-US" sz="1400" i="1" dirty="0">
              <a:solidFill>
                <a:schemeClr val="bg1"/>
              </a:solidFill>
              <a:effectLst/>
              <a:latin typeface="Georgia" pitchFamily="18" charset="0"/>
              <a:ea typeface="Times New Roman"/>
              <a:cs typeface="Mangal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914400" algn="l"/>
              </a:tabLst>
            </a:pPr>
            <a:r>
              <a:rPr lang="en-US" b="1" i="1" dirty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Georgia" pitchFamily="18" charset="0"/>
                <a:ea typeface="Times New Roman"/>
                <a:cs typeface="Mangal"/>
              </a:rPr>
              <a:t>Functional Group Interconversions Module:</a:t>
            </a:r>
            <a:endParaRPr lang="en-US" sz="1400" i="1" dirty="0">
              <a:solidFill>
                <a:schemeClr val="bg1"/>
              </a:solidFill>
              <a:effectLst>
                <a:glow rad="139700">
                  <a:schemeClr val="accent4">
                    <a:satMod val="175000"/>
                    <a:alpha val="40000"/>
                  </a:schemeClr>
                </a:glow>
              </a:effectLst>
              <a:latin typeface="Georgia" pitchFamily="18" charset="0"/>
              <a:ea typeface="Times New Roman"/>
              <a:cs typeface="Mangal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1371600" algn="l"/>
              </a:tabLst>
            </a:pPr>
            <a:r>
              <a:rPr lang="en-US" i="1" dirty="0">
                <a:solidFill>
                  <a:schemeClr val="bg1"/>
                </a:solidFill>
                <a:effectLst/>
                <a:latin typeface="Georgia" pitchFamily="18" charset="0"/>
                <a:ea typeface="Times New Roman"/>
                <a:cs typeface="Mangal"/>
              </a:rPr>
              <a:t>Incorporate reaction prediction models for various functional group interconversions.</a:t>
            </a:r>
            <a:endParaRPr lang="en-US" sz="1400" i="1" dirty="0">
              <a:solidFill>
                <a:schemeClr val="bg1"/>
              </a:solidFill>
              <a:effectLst/>
              <a:latin typeface="Georgia" pitchFamily="18" charset="0"/>
              <a:ea typeface="Times New Roman"/>
              <a:cs typeface="Mangal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1371600" algn="l"/>
              </a:tabLst>
            </a:pPr>
            <a:r>
              <a:rPr lang="en-US" i="1" dirty="0">
                <a:solidFill>
                  <a:schemeClr val="bg1"/>
                </a:solidFill>
                <a:effectLst/>
                <a:latin typeface="Georgia" pitchFamily="18" charset="0"/>
                <a:ea typeface="Times New Roman"/>
                <a:cs typeface="Mangal"/>
              </a:rPr>
              <a:t>Offer examples and step-by-step explanations for common reactions.</a:t>
            </a:r>
            <a:endParaRPr lang="en-US" sz="1400" i="1" dirty="0">
              <a:solidFill>
                <a:schemeClr val="bg1"/>
              </a:solidFill>
              <a:effectLst/>
              <a:latin typeface="Georgia" pitchFamily="18" charset="0"/>
              <a:ea typeface="Times New Roman"/>
              <a:cs typeface="Mangal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914400" algn="l"/>
              </a:tabLst>
            </a:pPr>
            <a:r>
              <a:rPr lang="en-US" b="1" i="1" dirty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Georgia" pitchFamily="18" charset="0"/>
                <a:ea typeface="Times New Roman"/>
                <a:cs typeface="Mangal"/>
              </a:rPr>
              <a:t>Protecting Groups Module:</a:t>
            </a:r>
            <a:endParaRPr lang="en-US" sz="1400" i="1" dirty="0">
              <a:solidFill>
                <a:schemeClr val="bg1"/>
              </a:solidFill>
              <a:effectLst>
                <a:glow rad="139700">
                  <a:schemeClr val="accent4">
                    <a:satMod val="175000"/>
                    <a:alpha val="40000"/>
                  </a:schemeClr>
                </a:glow>
              </a:effectLst>
              <a:latin typeface="Georgia" pitchFamily="18" charset="0"/>
              <a:ea typeface="Times New Roman"/>
              <a:cs typeface="Mangal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1371600" algn="l"/>
              </a:tabLst>
            </a:pPr>
            <a:r>
              <a:rPr lang="en-US" i="1" dirty="0">
                <a:solidFill>
                  <a:schemeClr val="bg1"/>
                </a:solidFill>
                <a:effectLst/>
                <a:latin typeface="Georgia" pitchFamily="18" charset="0"/>
                <a:ea typeface="Times New Roman"/>
                <a:cs typeface="Mangal"/>
              </a:rPr>
              <a:t>Include a comprehensive database of protecting groups and their applications.</a:t>
            </a:r>
            <a:endParaRPr lang="en-US" sz="1400" i="1" dirty="0">
              <a:solidFill>
                <a:schemeClr val="bg1"/>
              </a:solidFill>
              <a:effectLst/>
              <a:latin typeface="Georgia" pitchFamily="18" charset="0"/>
              <a:ea typeface="Times New Roman"/>
              <a:cs typeface="Mangal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1371600" algn="l"/>
              </a:tabLst>
            </a:pPr>
            <a:r>
              <a:rPr lang="en-US" i="1" dirty="0">
                <a:solidFill>
                  <a:schemeClr val="bg1"/>
                </a:solidFill>
                <a:effectLst/>
                <a:latin typeface="Georgia" pitchFamily="18" charset="0"/>
                <a:ea typeface="Times New Roman"/>
                <a:cs typeface="Mangal"/>
              </a:rPr>
              <a:t>Develop algorithms to suggest suitable protecting groups for specific functional groups.</a:t>
            </a:r>
            <a:endParaRPr lang="en-US" sz="1400" i="1" dirty="0">
              <a:solidFill>
                <a:schemeClr val="bg1"/>
              </a:solidFill>
              <a:effectLst/>
              <a:latin typeface="Georgia" pitchFamily="18" charset="0"/>
              <a:ea typeface="Times New Roman"/>
              <a:cs typeface="Mangal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914400" algn="l"/>
              </a:tabLst>
            </a:pPr>
            <a:r>
              <a:rPr lang="en-US" b="1" i="1" dirty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Georgia" pitchFamily="18" charset="0"/>
                <a:ea typeface="Times New Roman"/>
                <a:cs typeface="Mangal"/>
              </a:rPr>
              <a:t>Synthetic Methods Module:</a:t>
            </a:r>
            <a:endParaRPr lang="en-US" sz="1400" i="1" dirty="0">
              <a:solidFill>
                <a:schemeClr val="bg1"/>
              </a:solidFill>
              <a:effectLst>
                <a:glow rad="139700">
                  <a:schemeClr val="accent4">
                    <a:satMod val="175000"/>
                    <a:alpha val="40000"/>
                  </a:schemeClr>
                </a:glow>
              </a:effectLst>
              <a:latin typeface="Georgia" pitchFamily="18" charset="0"/>
              <a:ea typeface="Times New Roman"/>
              <a:cs typeface="Mangal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1371600" algn="l"/>
              </a:tabLst>
            </a:pPr>
            <a:r>
              <a:rPr lang="en-US" i="1" dirty="0">
                <a:solidFill>
                  <a:schemeClr val="bg1"/>
                </a:solidFill>
                <a:effectLst/>
                <a:latin typeface="Georgia" pitchFamily="18" charset="0"/>
                <a:ea typeface="Times New Roman"/>
                <a:cs typeface="Mangal"/>
              </a:rPr>
              <a:t>Integrate diverse synthetic methods with explanations and examples.</a:t>
            </a:r>
            <a:endParaRPr lang="en-US" sz="1400" i="1" dirty="0">
              <a:solidFill>
                <a:schemeClr val="bg1"/>
              </a:solidFill>
              <a:effectLst/>
              <a:latin typeface="Georgia" pitchFamily="18" charset="0"/>
              <a:ea typeface="Times New Roman"/>
              <a:cs typeface="Mangal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1371600" algn="l"/>
              </a:tabLst>
            </a:pPr>
            <a:r>
              <a:rPr lang="en-US" i="1" dirty="0">
                <a:solidFill>
                  <a:schemeClr val="bg1"/>
                </a:solidFill>
                <a:effectLst/>
                <a:latin typeface="Georgia" pitchFamily="18" charset="0"/>
                <a:ea typeface="Times New Roman"/>
                <a:cs typeface="Mangal"/>
              </a:rPr>
              <a:t>Allow users to explore and select suitable methods for specific bond formations.</a:t>
            </a:r>
            <a:endParaRPr lang="en-US" sz="1400" i="1" dirty="0">
              <a:solidFill>
                <a:schemeClr val="bg1"/>
              </a:solidFill>
              <a:effectLst/>
              <a:latin typeface="Georgia" pitchFamily="18" charset="0"/>
              <a:ea typeface="Times New Roman"/>
              <a:cs typeface="Mangal"/>
            </a:endParaRPr>
          </a:p>
        </p:txBody>
      </p:sp>
    </p:spTree>
    <p:extLst>
      <p:ext uri="{BB962C8B-B14F-4D97-AF65-F5344CB8AC3E}">
        <p14:creationId xmlns:p14="http://schemas.microsoft.com/office/powerpoint/2010/main" val="22368321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4DA9AB-309D-4B10-AE15-DDFBE76DB9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55242" y="463639"/>
            <a:ext cx="8610600" cy="5587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914400" algn="l"/>
              </a:tabLst>
            </a:pPr>
            <a:r>
              <a:rPr lang="en-US" b="1" i="1" dirty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Georgia" pitchFamily="18" charset="0"/>
                <a:ea typeface="Times New Roman"/>
                <a:cs typeface="Mangal"/>
              </a:rPr>
              <a:t>Catalysis Module:</a:t>
            </a:r>
            <a:endParaRPr lang="en-US" sz="1400" i="1" dirty="0">
              <a:solidFill>
                <a:schemeClr val="bg1"/>
              </a:solidFill>
              <a:effectLst>
                <a:glow rad="139700">
                  <a:schemeClr val="accent4">
                    <a:satMod val="175000"/>
                    <a:alpha val="40000"/>
                  </a:schemeClr>
                </a:glow>
              </a:effectLst>
              <a:latin typeface="Georgia" pitchFamily="18" charset="0"/>
              <a:ea typeface="Times New Roman"/>
              <a:cs typeface="Mangal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1371600" algn="l"/>
              </a:tabLst>
            </a:pPr>
            <a:r>
              <a:rPr lang="en-US" i="1" dirty="0">
                <a:solidFill>
                  <a:schemeClr val="bg1"/>
                </a:solidFill>
                <a:effectLst/>
                <a:latin typeface="Georgia" pitchFamily="18" charset="0"/>
                <a:ea typeface="Times New Roman"/>
                <a:cs typeface="Mangal"/>
              </a:rPr>
              <a:t>Provide information on different catalysts and their applications.</a:t>
            </a:r>
            <a:endParaRPr lang="en-US" sz="1400" i="1" dirty="0">
              <a:solidFill>
                <a:schemeClr val="bg1"/>
              </a:solidFill>
              <a:effectLst/>
              <a:latin typeface="Georgia" pitchFamily="18" charset="0"/>
              <a:ea typeface="Times New Roman"/>
              <a:cs typeface="Mangal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1371600" algn="l"/>
              </a:tabLst>
            </a:pPr>
            <a:r>
              <a:rPr lang="en-US" i="1" dirty="0">
                <a:solidFill>
                  <a:schemeClr val="bg1"/>
                </a:solidFill>
                <a:effectLst/>
                <a:latin typeface="Georgia" pitchFamily="18" charset="0"/>
                <a:ea typeface="Times New Roman"/>
                <a:cs typeface="Mangal"/>
              </a:rPr>
              <a:t>Include data on reaction mechanisms and conditions for catalyzed reactions.</a:t>
            </a: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1371600" algn="l"/>
              </a:tabLst>
            </a:pPr>
            <a:endParaRPr lang="en-US" sz="1400" i="1" dirty="0">
              <a:solidFill>
                <a:schemeClr val="bg1"/>
              </a:solidFill>
              <a:effectLst/>
              <a:latin typeface="Georgia" pitchFamily="18" charset="0"/>
              <a:ea typeface="Times New Roman"/>
              <a:cs typeface="Mangal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914400" algn="l"/>
              </a:tabLst>
            </a:pPr>
            <a:r>
              <a:rPr lang="en-US" b="1" i="1" dirty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Georgia" pitchFamily="18" charset="0"/>
                <a:ea typeface="Times New Roman"/>
                <a:cs typeface="Mangal"/>
              </a:rPr>
              <a:t>Green Chemistry Module:</a:t>
            </a:r>
            <a:endParaRPr lang="en-US" sz="1400" i="1" dirty="0">
              <a:solidFill>
                <a:schemeClr val="bg1"/>
              </a:solidFill>
              <a:effectLst>
                <a:glow rad="139700">
                  <a:schemeClr val="accent4">
                    <a:satMod val="175000"/>
                    <a:alpha val="40000"/>
                  </a:schemeClr>
                </a:glow>
              </a:effectLst>
              <a:latin typeface="Georgia" pitchFamily="18" charset="0"/>
              <a:ea typeface="Times New Roman"/>
              <a:cs typeface="Mangal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1371600" algn="l"/>
              </a:tabLst>
            </a:pPr>
            <a:r>
              <a:rPr lang="en-US" i="1" dirty="0">
                <a:solidFill>
                  <a:schemeClr val="bg1"/>
                </a:solidFill>
                <a:effectLst/>
                <a:latin typeface="Georgia" pitchFamily="18" charset="0"/>
                <a:ea typeface="Times New Roman"/>
                <a:cs typeface="Mangal"/>
              </a:rPr>
              <a:t>Incorporate principles of green chemistry, offering suggestions for environmentally friendly reactions.</a:t>
            </a:r>
            <a:endParaRPr lang="en-US" sz="1400" i="1" dirty="0">
              <a:solidFill>
                <a:schemeClr val="bg1"/>
              </a:solidFill>
              <a:effectLst/>
              <a:latin typeface="Georgia" pitchFamily="18" charset="0"/>
              <a:ea typeface="Times New Roman"/>
              <a:cs typeface="Mangal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1371600" algn="l"/>
              </a:tabLst>
            </a:pPr>
            <a:r>
              <a:rPr lang="en-US" i="1" dirty="0">
                <a:solidFill>
                  <a:schemeClr val="bg1"/>
                </a:solidFill>
                <a:effectLst/>
                <a:latin typeface="Georgia" pitchFamily="18" charset="0"/>
                <a:ea typeface="Times New Roman"/>
                <a:cs typeface="Mangal"/>
              </a:rPr>
              <a:t>Include metrics for assessing the "greenness" of a synthesis route.</a:t>
            </a: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1371600" algn="l"/>
              </a:tabLst>
            </a:pPr>
            <a:endParaRPr lang="en-US" sz="1400" i="1" dirty="0">
              <a:solidFill>
                <a:schemeClr val="bg1"/>
              </a:solidFill>
              <a:effectLst/>
              <a:latin typeface="Georgia" pitchFamily="18" charset="0"/>
              <a:ea typeface="Times New Roman"/>
              <a:cs typeface="Mangal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914400" algn="l"/>
              </a:tabLst>
            </a:pPr>
            <a:r>
              <a:rPr lang="en-US" b="1" i="1" dirty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Georgia" pitchFamily="18" charset="0"/>
                <a:ea typeface="Times New Roman"/>
                <a:cs typeface="Mangal"/>
              </a:rPr>
              <a:t>Automation and High-Throughput Synthesis Module:</a:t>
            </a:r>
            <a:endParaRPr lang="en-US" sz="1400" i="1" dirty="0">
              <a:solidFill>
                <a:schemeClr val="bg1"/>
              </a:solidFill>
              <a:effectLst>
                <a:glow rad="139700">
                  <a:schemeClr val="accent4">
                    <a:satMod val="175000"/>
                    <a:alpha val="40000"/>
                  </a:schemeClr>
                </a:glow>
              </a:effectLst>
              <a:latin typeface="Georgia" pitchFamily="18" charset="0"/>
              <a:ea typeface="Times New Roman"/>
              <a:cs typeface="Mangal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1371600" algn="l"/>
              </a:tabLst>
            </a:pPr>
            <a:r>
              <a:rPr lang="en-US" i="1" dirty="0">
                <a:solidFill>
                  <a:schemeClr val="bg1"/>
                </a:solidFill>
                <a:effectLst/>
                <a:latin typeface="Georgia" pitchFamily="18" charset="0"/>
                <a:ea typeface="Times New Roman"/>
                <a:cs typeface="Mangal"/>
              </a:rPr>
              <a:t>Offer information on automated synthesis techniques and robotics.</a:t>
            </a:r>
            <a:endParaRPr lang="en-US" sz="1400" i="1" dirty="0">
              <a:solidFill>
                <a:schemeClr val="bg1"/>
              </a:solidFill>
              <a:effectLst/>
              <a:latin typeface="Georgia" pitchFamily="18" charset="0"/>
              <a:ea typeface="Times New Roman"/>
              <a:cs typeface="Mangal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1371600" algn="l"/>
              </a:tabLst>
            </a:pPr>
            <a:r>
              <a:rPr lang="en-US" i="1" dirty="0">
                <a:solidFill>
                  <a:schemeClr val="bg1"/>
                </a:solidFill>
                <a:effectLst/>
                <a:latin typeface="Georgia" pitchFamily="18" charset="0"/>
                <a:ea typeface="Times New Roman"/>
                <a:cs typeface="Mangal"/>
              </a:rPr>
              <a:t>Provide insights into high-throughput screening and synthesis.</a:t>
            </a:r>
          </a:p>
          <a:p>
            <a:pPr marR="0"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1371600" algn="l"/>
              </a:tabLst>
            </a:pPr>
            <a:endParaRPr lang="en-US" sz="1400" i="1" dirty="0">
              <a:solidFill>
                <a:schemeClr val="bg1"/>
              </a:solidFill>
              <a:effectLst/>
              <a:latin typeface="Georgia" pitchFamily="18" charset="0"/>
              <a:ea typeface="Times New Roman"/>
              <a:cs typeface="Mangal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914400" algn="l"/>
              </a:tabLst>
            </a:pPr>
            <a:r>
              <a:rPr lang="en-US" b="1" i="1" dirty="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Georgia" pitchFamily="18" charset="0"/>
                <a:ea typeface="Times New Roman"/>
                <a:cs typeface="Mangal"/>
              </a:rPr>
              <a:t>Total Synthesis Module:</a:t>
            </a:r>
            <a:endParaRPr lang="en-US" sz="1400" i="1" dirty="0">
              <a:solidFill>
                <a:schemeClr val="bg1"/>
              </a:solidFill>
              <a:effectLst>
                <a:glow rad="139700">
                  <a:schemeClr val="accent4">
                    <a:satMod val="175000"/>
                    <a:alpha val="40000"/>
                  </a:schemeClr>
                </a:glow>
              </a:effectLst>
              <a:latin typeface="Georgia" pitchFamily="18" charset="0"/>
              <a:ea typeface="Times New Roman"/>
              <a:cs typeface="Mangal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1371600" algn="l"/>
              </a:tabLst>
            </a:pPr>
            <a:r>
              <a:rPr lang="en-US" i="1" dirty="0">
                <a:solidFill>
                  <a:schemeClr val="bg1"/>
                </a:solidFill>
                <a:effectLst/>
                <a:latin typeface="Georgia" pitchFamily="18" charset="0"/>
                <a:ea typeface="Times New Roman"/>
                <a:cs typeface="Mangal"/>
              </a:rPr>
              <a:t>Include case studies of total synthesis projects.</a:t>
            </a:r>
            <a:endParaRPr lang="en-US" sz="1400" i="1" dirty="0">
              <a:solidFill>
                <a:schemeClr val="bg1"/>
              </a:solidFill>
              <a:effectLst/>
              <a:latin typeface="Georgia" pitchFamily="18" charset="0"/>
              <a:ea typeface="Times New Roman"/>
              <a:cs typeface="Mangal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1371600" algn="l"/>
              </a:tabLst>
            </a:pPr>
            <a:r>
              <a:rPr lang="en-US" i="1" dirty="0">
                <a:solidFill>
                  <a:schemeClr val="bg1"/>
                </a:solidFill>
                <a:effectLst/>
                <a:latin typeface="Georgia" pitchFamily="18" charset="0"/>
                <a:ea typeface="Times New Roman"/>
                <a:cs typeface="Mangal"/>
              </a:rPr>
              <a:t>Provide information on strategies, challenges, and outcomes of total synthesis.</a:t>
            </a:r>
            <a:endParaRPr lang="en-US" sz="1400" i="1" dirty="0">
              <a:solidFill>
                <a:schemeClr val="bg1"/>
              </a:solidFill>
              <a:effectLst/>
              <a:latin typeface="Georgia" pitchFamily="18" charset="0"/>
              <a:ea typeface="Times New Roman"/>
              <a:cs typeface="Mangal"/>
            </a:endParaRPr>
          </a:p>
        </p:txBody>
      </p:sp>
    </p:spTree>
    <p:extLst>
      <p:ext uri="{BB962C8B-B14F-4D97-AF65-F5344CB8AC3E}">
        <p14:creationId xmlns:p14="http://schemas.microsoft.com/office/powerpoint/2010/main" val="1605140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F25E79-3C3F-4830-BAFB-9209DE57F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1000" y="609600"/>
            <a:ext cx="8153400" cy="4207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b="1" i="1" dirty="0">
                <a:solidFill>
                  <a:schemeClr val="bg1"/>
                </a:solidFill>
                <a:effectLst>
                  <a:glow rad="101600">
                    <a:schemeClr val="accent5">
                      <a:satMod val="175000"/>
                      <a:alpha val="40000"/>
                    </a:schemeClr>
                  </a:glow>
                </a:effectLst>
                <a:latin typeface="Georgia" pitchFamily="18" charset="0"/>
                <a:ea typeface="Times New Roman"/>
                <a:cs typeface="Mangal"/>
              </a:rPr>
              <a:t>5. User Interface Features:</a:t>
            </a:r>
            <a:endParaRPr lang="en-US" sz="1400" i="1" dirty="0">
              <a:solidFill>
                <a:schemeClr val="bg1"/>
              </a:solidFill>
              <a:effectLst>
                <a:glow rad="101600">
                  <a:schemeClr val="accent5">
                    <a:satMod val="175000"/>
                    <a:alpha val="40000"/>
                  </a:schemeClr>
                </a:glow>
              </a:effectLst>
              <a:latin typeface="Georgia" pitchFamily="18" charset="0"/>
              <a:ea typeface="Times New Roman"/>
              <a:cs typeface="Mangal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914400" algn="l"/>
              </a:tabLst>
            </a:pPr>
            <a:r>
              <a:rPr lang="en-US" i="1" dirty="0">
                <a:solidFill>
                  <a:schemeClr val="bg1"/>
                </a:solidFill>
                <a:effectLst/>
                <a:latin typeface="Georgia" pitchFamily="18" charset="0"/>
                <a:ea typeface="Times New Roman"/>
                <a:cs typeface="Mangal"/>
              </a:rPr>
              <a:t>User-friendly interface for query input and target molecule specifications.</a:t>
            </a:r>
            <a:endParaRPr lang="en-US" sz="1400" i="1" dirty="0">
              <a:solidFill>
                <a:schemeClr val="bg1"/>
              </a:solidFill>
              <a:effectLst/>
              <a:latin typeface="Georgia" pitchFamily="18" charset="0"/>
              <a:ea typeface="Times New Roman"/>
              <a:cs typeface="Mangal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914400" algn="l"/>
              </a:tabLst>
            </a:pPr>
            <a:r>
              <a:rPr lang="en-US" i="1" dirty="0">
                <a:solidFill>
                  <a:schemeClr val="bg1"/>
                </a:solidFill>
                <a:effectLst/>
                <a:latin typeface="Georgia" pitchFamily="18" charset="0"/>
                <a:ea typeface="Times New Roman"/>
                <a:cs typeface="Mangal"/>
              </a:rPr>
              <a:t>Visual representations of reaction pathways and synthesis routes.</a:t>
            </a:r>
            <a:endParaRPr lang="en-US" sz="1400" i="1" dirty="0">
              <a:solidFill>
                <a:schemeClr val="bg1"/>
              </a:solidFill>
              <a:effectLst/>
              <a:latin typeface="Georgia" pitchFamily="18" charset="0"/>
              <a:ea typeface="Times New Roman"/>
              <a:cs typeface="Mangal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914400" algn="l"/>
              </a:tabLst>
            </a:pPr>
            <a:r>
              <a:rPr lang="en-US" i="1" dirty="0">
                <a:solidFill>
                  <a:schemeClr val="bg1"/>
                </a:solidFill>
                <a:effectLst/>
                <a:latin typeface="Georgia" pitchFamily="18" charset="0"/>
                <a:ea typeface="Times New Roman"/>
                <a:cs typeface="Mangal"/>
              </a:rPr>
              <a:t>Interactive tools for exploring different modules and concepts.</a:t>
            </a:r>
            <a:endParaRPr lang="en-US" sz="1400" i="1" dirty="0">
              <a:solidFill>
                <a:schemeClr val="bg1"/>
              </a:solidFill>
              <a:effectLst/>
              <a:latin typeface="Georgia" pitchFamily="18" charset="0"/>
              <a:ea typeface="Times New Roman"/>
              <a:cs typeface="Mangal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914400" algn="l"/>
              </a:tabLst>
            </a:pPr>
            <a:r>
              <a:rPr lang="en-US" i="1" dirty="0">
                <a:solidFill>
                  <a:schemeClr val="bg1"/>
                </a:solidFill>
                <a:effectLst/>
                <a:latin typeface="Georgia" pitchFamily="18" charset="0"/>
                <a:ea typeface="Times New Roman"/>
                <a:cs typeface="Mangal"/>
              </a:rPr>
              <a:t>Option to access detailed explanations, references, and external resources.</a:t>
            </a:r>
            <a:endParaRPr lang="en-US" sz="1400" i="1" dirty="0">
              <a:solidFill>
                <a:schemeClr val="bg1"/>
              </a:solidFill>
              <a:effectLst/>
              <a:latin typeface="Georgia" pitchFamily="18" charset="0"/>
              <a:ea typeface="Times New Roman"/>
              <a:cs typeface="Mangal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b="1" i="1" dirty="0">
                <a:solidFill>
                  <a:schemeClr val="bg1"/>
                </a:solidFill>
                <a:effectLst>
                  <a:glow rad="101600">
                    <a:schemeClr val="accent5">
                      <a:satMod val="175000"/>
                      <a:alpha val="40000"/>
                    </a:schemeClr>
                  </a:glow>
                </a:effectLst>
                <a:latin typeface="Georgia" pitchFamily="18" charset="0"/>
                <a:ea typeface="Times New Roman"/>
                <a:cs typeface="Mangal"/>
              </a:rPr>
              <a:t>6. Machine Learning and Continuous Improvement:</a:t>
            </a:r>
            <a:endParaRPr lang="en-US" sz="1400" i="1" dirty="0">
              <a:solidFill>
                <a:schemeClr val="bg1"/>
              </a:solidFill>
              <a:effectLst>
                <a:glow rad="101600">
                  <a:schemeClr val="accent5">
                    <a:satMod val="175000"/>
                    <a:alpha val="40000"/>
                  </a:schemeClr>
                </a:glow>
              </a:effectLst>
              <a:latin typeface="Georgia" pitchFamily="18" charset="0"/>
              <a:ea typeface="Times New Roman"/>
              <a:cs typeface="Mangal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914400" algn="l"/>
              </a:tabLst>
            </a:pPr>
            <a:r>
              <a:rPr lang="en-US" i="1" dirty="0">
                <a:solidFill>
                  <a:schemeClr val="bg1"/>
                </a:solidFill>
                <a:effectLst/>
                <a:latin typeface="Georgia" pitchFamily="18" charset="0"/>
                <a:ea typeface="Times New Roman"/>
                <a:cs typeface="Mangal"/>
              </a:rPr>
              <a:t>Implement machine learning algorithms for predicting user preferences and suggesting relevant content.</a:t>
            </a:r>
            <a:endParaRPr lang="en-US" sz="1400" i="1" dirty="0">
              <a:solidFill>
                <a:schemeClr val="bg1"/>
              </a:solidFill>
              <a:effectLst/>
              <a:latin typeface="Georgia" pitchFamily="18" charset="0"/>
              <a:ea typeface="Times New Roman"/>
              <a:cs typeface="Mangal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/>
              <a:buChar char=""/>
              <a:tabLst>
                <a:tab pos="914400" algn="l"/>
              </a:tabLst>
            </a:pPr>
            <a:r>
              <a:rPr lang="en-US" i="1" dirty="0">
                <a:solidFill>
                  <a:schemeClr val="bg1"/>
                </a:solidFill>
                <a:effectLst/>
                <a:latin typeface="Georgia" pitchFamily="18" charset="0"/>
                <a:ea typeface="Times New Roman"/>
                <a:cs typeface="Mangal"/>
              </a:rPr>
              <a:t>Collect user feedback and usage data to continually enhance the accuracy and effectiveness of the AI model.</a:t>
            </a:r>
            <a:endParaRPr lang="en-US" sz="1400" i="1" dirty="0">
              <a:solidFill>
                <a:schemeClr val="bg1"/>
              </a:solidFill>
              <a:effectLst/>
              <a:latin typeface="Georgia" pitchFamily="18" charset="0"/>
              <a:ea typeface="Times New Roman"/>
              <a:cs typeface="Mangal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endParaRPr lang="en-US" sz="1400" dirty="0">
              <a:solidFill>
                <a:schemeClr val="bg1"/>
              </a:solidFill>
              <a:effectLst/>
              <a:latin typeface="Georgia" pitchFamily="18" charset="0"/>
              <a:ea typeface="Times New Roman"/>
              <a:cs typeface="Mangal"/>
            </a:endParaRPr>
          </a:p>
        </p:txBody>
      </p:sp>
    </p:spTree>
    <p:extLst>
      <p:ext uri="{BB962C8B-B14F-4D97-AF65-F5344CB8AC3E}">
        <p14:creationId xmlns:p14="http://schemas.microsoft.com/office/powerpoint/2010/main" val="10196211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1000" r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-152400"/>
            <a:ext cx="8229600" cy="1176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Rectangle 22"/>
          <p:cNvSpPr/>
          <p:nvPr/>
        </p:nvSpPr>
        <p:spPr>
          <a:xfrm>
            <a:off x="1793759" y="2286000"/>
            <a:ext cx="555648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FFFFFF"/>
              </a:buClr>
              <a:buSzPts val="1600"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Georgia" pitchFamily="18" charset="0"/>
                <a:ea typeface="Times New Roman"/>
                <a:sym typeface="Squada One"/>
              </a:rPr>
              <a:t>2. Efficiency and </a:t>
            </a: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Georgia" pitchFamily="18" charset="0"/>
                <a:ea typeface="Times New Roman"/>
                <a:sym typeface="Squada One"/>
              </a:rPr>
              <a:t>Resource O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Georgia" pitchFamily="18" charset="0"/>
                <a:ea typeface="Times New Roman"/>
                <a:sym typeface="Squada One"/>
              </a:rPr>
              <a:t>ptimization</a:t>
            </a: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Georgia" pitchFamily="18" charset="0"/>
              <a:sym typeface="Squada One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403336" y="697468"/>
            <a:ext cx="40863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buClr>
                <a:srgbClr val="FFFFFF"/>
              </a:buClr>
              <a:buSzPts val="1600"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blipFill>
                  <a:blip r:embed="rId5"/>
                  <a:tile tx="0" ty="0" sx="100000" sy="100000" flip="none" algn="tl"/>
                </a:blipFill>
                <a:effectLst/>
                <a:uLnTx/>
                <a:uFillTx/>
                <a:latin typeface="Times New Roman"/>
                <a:ea typeface="Times New Roman"/>
                <a:sym typeface="Squada One"/>
              </a:rPr>
              <a:t>1.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blipFill>
                  <a:blip r:embed="rId5"/>
                  <a:tile tx="0" ty="0" sx="100000" sy="100000" flip="none" algn="tl"/>
                </a:blipFill>
                <a:effectLst/>
                <a:uLnTx/>
                <a:uFillTx/>
                <a:latin typeface="Georgia" pitchFamily="18" charset="0"/>
                <a:ea typeface="Times New Roman"/>
                <a:sym typeface="Squada One"/>
              </a:rPr>
              <a:t>Green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blipFill>
                  <a:blip r:embed="rId5"/>
                  <a:tile tx="0" ty="0" sx="100000" sy="100000" flip="none" algn="tl"/>
                </a:blipFill>
                <a:effectLst/>
                <a:uLnTx/>
                <a:uFillTx/>
                <a:latin typeface="Times New Roman"/>
                <a:ea typeface="Times New Roman"/>
                <a:sym typeface="Squada One"/>
              </a:rPr>
              <a:t> Chemistry and Sustainability</a:t>
            </a:r>
            <a:endParaRPr kumimoji="0" lang="en-GB" b="0" i="0" u="none" strike="noStrike" kern="0" cap="none" spc="0" normalizeH="0" baseline="0" noProof="0" dirty="0">
              <a:ln>
                <a:noFill/>
              </a:ln>
              <a:blipFill>
                <a:blip r:embed="rId5"/>
                <a:tile tx="0" ty="0" sx="100000" sy="100000" flip="none" algn="tl"/>
              </a:blipFill>
              <a:effectLst/>
              <a:uLnTx/>
              <a:uFillTx/>
              <a:latin typeface="Squada One"/>
              <a:sym typeface="Squada One"/>
            </a:endParaRPr>
          </a:p>
        </p:txBody>
      </p:sp>
      <p:sp>
        <p:nvSpPr>
          <p:cNvPr id="32" name="Hexagon 24"/>
          <p:cNvSpPr/>
          <p:nvPr/>
        </p:nvSpPr>
        <p:spPr>
          <a:xfrm>
            <a:off x="640243" y="2640449"/>
            <a:ext cx="7863514" cy="1169551"/>
          </a:xfrm>
          <a:prstGeom prst="flowChartPreparation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Georgia" pitchFamily="18" charset="0"/>
              </a:rPr>
              <a:t>The AI system's ability to analyze vast databases and suggest efficient synthetic routes contributes to resource optimization. By minimizing resource consumption, it helps reduce the environmental footprint of chemical processes.</a:t>
            </a:r>
          </a:p>
        </p:txBody>
      </p:sp>
      <p:sp>
        <p:nvSpPr>
          <p:cNvPr id="13" name="Hexagon 24">
            <a:extLst>
              <a:ext uri="{FF2B5EF4-FFF2-40B4-BE49-F238E27FC236}">
                <a16:creationId xmlns:a16="http://schemas.microsoft.com/office/drawing/2014/main" id="{7F83A326-2A73-49CB-B851-25D318F10F95}"/>
              </a:ext>
            </a:extLst>
          </p:cNvPr>
          <p:cNvSpPr/>
          <p:nvPr/>
        </p:nvSpPr>
        <p:spPr>
          <a:xfrm>
            <a:off x="640243" y="1066800"/>
            <a:ext cx="7863514" cy="1200329"/>
          </a:xfrm>
          <a:prstGeom prst="flowChartPreparation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Georgia" pitchFamily="18" charset="0"/>
              </a:rPr>
              <a:t>The AI system can recommend and optimize green synthetic routes, aligning with the principles of green chemistry. This promotes the development of</a:t>
            </a:r>
          </a:p>
          <a:p>
            <a:r>
              <a:rPr lang="en-US" sz="1400" dirty="0">
                <a:solidFill>
                  <a:schemeClr val="bg1"/>
                </a:solidFill>
                <a:latin typeface="Georgia" pitchFamily="18" charset="0"/>
              </a:rPr>
              <a:t>eco-friendly methods in organic synthesis, reducing environmental impact.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CB4212-308E-4078-9F83-2A142AE52575}"/>
              </a:ext>
            </a:extLst>
          </p:cNvPr>
          <p:cNvSpPr/>
          <p:nvPr/>
        </p:nvSpPr>
        <p:spPr>
          <a:xfrm>
            <a:off x="1668283" y="3810000"/>
            <a:ext cx="55564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Clr>
                <a:srgbClr val="FFFFFF"/>
              </a:buClr>
              <a:buSzPts val="1600"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Squada One"/>
              </a:rPr>
              <a:t>3.Automation and High-Throughput Synthesis</a:t>
            </a: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Squada One"/>
            </a:endParaRPr>
          </a:p>
          <a:p>
            <a:pPr lvl="0" algn="ctr">
              <a:buClr>
                <a:srgbClr val="FFFFFF"/>
              </a:buClr>
              <a:buSzPts val="1600"/>
            </a:pP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Georgia" pitchFamily="18" charset="0"/>
              <a:sym typeface="Squada One"/>
            </a:endParaRPr>
          </a:p>
        </p:txBody>
      </p:sp>
      <p:sp>
        <p:nvSpPr>
          <p:cNvPr id="15" name="Hexagon 24">
            <a:extLst>
              <a:ext uri="{FF2B5EF4-FFF2-40B4-BE49-F238E27FC236}">
                <a16:creationId xmlns:a16="http://schemas.microsoft.com/office/drawing/2014/main" id="{B63372A8-2097-4EC8-9DA7-13D088BEB7EA}"/>
              </a:ext>
            </a:extLst>
          </p:cNvPr>
          <p:cNvSpPr/>
          <p:nvPr/>
        </p:nvSpPr>
        <p:spPr>
          <a:xfrm>
            <a:off x="640243" y="4114800"/>
            <a:ext cx="7863514" cy="1169551"/>
          </a:xfrm>
          <a:prstGeom prst="flowChartPreparation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Georgia" pitchFamily="18" charset="0"/>
              </a:rPr>
              <a:t>Automated synthesis processes guided by AI enhance efficiency and reduce human error. High-throughput synthesis accelerates the discovery of new reactions, speeding up the development of sustainable synthetic methods.</a:t>
            </a:r>
            <a:endParaRPr lang="en-GB" sz="1400" dirty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65F07E-4215-4E84-9B85-DBAC25BC2FFA}"/>
              </a:ext>
            </a:extLst>
          </p:cNvPr>
          <p:cNvSpPr/>
          <p:nvPr/>
        </p:nvSpPr>
        <p:spPr>
          <a:xfrm>
            <a:off x="1235840" y="5257800"/>
            <a:ext cx="642136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FFFFFF"/>
              </a:buClr>
              <a:buSzPts val="1600"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Georgia" pitchFamily="18" charset="0"/>
                <a:ea typeface="Times New Roman"/>
                <a:sym typeface="Squada One"/>
              </a:rPr>
              <a:t>4. Total Synthesis and Drug Discovery</a:t>
            </a: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Georgia" pitchFamily="18" charset="0"/>
              <a:sym typeface="Squada One"/>
            </a:endParaRPr>
          </a:p>
        </p:txBody>
      </p:sp>
      <p:sp>
        <p:nvSpPr>
          <p:cNvPr id="17" name="Hexagon 24">
            <a:extLst>
              <a:ext uri="{FF2B5EF4-FFF2-40B4-BE49-F238E27FC236}">
                <a16:creationId xmlns:a16="http://schemas.microsoft.com/office/drawing/2014/main" id="{E976B8EE-7B5E-4019-A95D-F876B69C8F5F}"/>
              </a:ext>
            </a:extLst>
          </p:cNvPr>
          <p:cNvSpPr/>
          <p:nvPr/>
        </p:nvSpPr>
        <p:spPr>
          <a:xfrm>
            <a:off x="640243" y="5638800"/>
            <a:ext cx="7863514" cy="954107"/>
          </a:xfrm>
          <a:prstGeom prst="flowChartPreparation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Georgia" pitchFamily="18" charset="0"/>
              </a:rPr>
              <a:t>The AI system aids in the total synthesis of complex molecules, including pharmaceuticals. This contributes to sustainable drug discovery by providing efficient synthetic routes for the production of essential medicines.</a:t>
            </a:r>
          </a:p>
        </p:txBody>
      </p:sp>
    </p:spTree>
    <p:extLst>
      <p:ext uri="{BB962C8B-B14F-4D97-AF65-F5344CB8AC3E}">
        <p14:creationId xmlns:p14="http://schemas.microsoft.com/office/powerpoint/2010/main" val="2650879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2" grpId="0"/>
      <p:bldP spid="32" grpId="0" animBg="1"/>
      <p:bldP spid="13" grpId="0" animBg="1"/>
      <p:bldP spid="14" grpId="0"/>
      <p:bldP spid="15" grpId="0" animBg="1"/>
      <p:bldP spid="16" grpId="0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7E744510-C00C-41AE-8FF1-642FDFDF50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00"/>
            <a:ext cx="9144000" cy="5715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4560600"/>
            <a:ext cx="8064000" cy="2373600"/>
          </a:xfrm>
          <a:noFill/>
        </p:spPr>
        <p:txBody>
          <a:bodyPr/>
          <a:lstStyle/>
          <a:p>
            <a:r>
              <a:rPr lang="en-GB" b="1" dirty="0">
                <a:ln w="12700">
                  <a:solidFill>
                    <a:schemeClr val="accent5">
                      <a:lumMod val="20000"/>
                      <a:lumOff val="8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latin typeface="SimSun-ExtB" pitchFamily="49" charset="-122"/>
                <a:ea typeface="SimSun-ExtB" pitchFamily="49" charset="-122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0B54CC-9C13-4549-938B-351364E571EF}"/>
              </a:ext>
            </a:extLst>
          </p:cNvPr>
          <p:cNvSpPr txBox="1"/>
          <p:nvPr/>
        </p:nvSpPr>
        <p:spPr>
          <a:xfrm>
            <a:off x="4114800" y="1063272"/>
            <a:ext cx="4876800" cy="2862322"/>
          </a:xfrm>
          <a:prstGeom prst="rect">
            <a:avLst/>
          </a:prstGeom>
          <a:solidFill>
            <a:srgbClr val="99CCFF">
              <a:alpha val="5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EcoSynth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 AI model, transforms organic synthesis for sustainability, optimizing routes and reducing footprints. Beyond eco-conscious chemistry, it revolutionizes drug discovery, promising efficiency in diverse industries. A key player in advancing sustainable practices,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EcoSynth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marks a paradigm shift for eco-conscious and efficient chemical processes with profound implications for drug development.</a:t>
            </a:r>
          </a:p>
        </p:txBody>
      </p:sp>
    </p:spTree>
    <p:extLst>
      <p:ext uri="{BB962C8B-B14F-4D97-AF65-F5344CB8AC3E}">
        <p14:creationId xmlns:p14="http://schemas.microsoft.com/office/powerpoint/2010/main" val="1535317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336</TotalTime>
  <Words>882</Words>
  <Application>Microsoft Office PowerPoint</Application>
  <PresentationFormat>On-screen Show (4:3)</PresentationFormat>
  <Paragraphs>94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SimSun-ExtB</vt:lpstr>
      <vt:lpstr>Arial</vt:lpstr>
      <vt:lpstr>Calibri</vt:lpstr>
      <vt:lpstr>Calibri Light</vt:lpstr>
      <vt:lpstr>Fira Sans Extra Condensed Medium</vt:lpstr>
      <vt:lpstr>Georgia</vt:lpstr>
      <vt:lpstr>Squada One</vt:lpstr>
      <vt:lpstr>Symbol</vt:lpstr>
      <vt:lpstr>Times New Roman</vt:lpstr>
      <vt:lpstr>Office Theme</vt:lpstr>
      <vt:lpstr>ECOSYNTH</vt:lpstr>
      <vt:lpstr>Overview of Organic Synthesis And Environmental Challenges in 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STARTUP</dc:title>
  <dc:creator>ADMIN</dc:creator>
  <cp:lastModifiedBy>balaji</cp:lastModifiedBy>
  <cp:revision>32</cp:revision>
  <dcterms:created xsi:type="dcterms:W3CDTF">2023-11-30T09:08:29Z</dcterms:created>
  <dcterms:modified xsi:type="dcterms:W3CDTF">2024-01-08T05:28:06Z</dcterms:modified>
</cp:coreProperties>
</file>